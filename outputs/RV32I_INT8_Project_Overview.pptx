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a1bf644ec144f3" /><Relationship Type="http://schemas.openxmlformats.org/officeDocument/2006/relationships/extended-properties" Target="/docProps/app.xml" Id="R833f2727c84c406f" /><Relationship Type="http://schemas.openxmlformats.org/officeDocument/2006/relationships/officeDocument" Target="/ppt/presentation.xml" Id="R49a1fa7c061745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8555d55eae4011"/>
  </p:sldMasterIdLst>
  <p:notesMasterIdLst>
    <p:notesMasterId xmlns:r="http://schemas.openxmlformats.org/officeDocument/2006/relationships" r:id="Rdd3fce75f4ce4894"/>
  </p:notesMasterIdLst>
  <p:sldIdLst>
    <p:sldId xmlns:r="http://schemas.openxmlformats.org/officeDocument/2006/relationships" id="256" r:id="Rdce6c95309a34dc2"/>
    <p:sldId xmlns:r="http://schemas.openxmlformats.org/officeDocument/2006/relationships" id="257" r:id="R9890826539d64af3"/>
    <p:sldId xmlns:r="http://schemas.openxmlformats.org/officeDocument/2006/relationships" id="258" r:id="R8bab4328c9dc42cd"/>
    <p:sldId xmlns:r="http://schemas.openxmlformats.org/officeDocument/2006/relationships" id="259" r:id="Rb960614b8e2c4924"/>
    <p:sldId xmlns:r="http://schemas.openxmlformats.org/officeDocument/2006/relationships" id="260" r:id="R8bc6fe75f4ef4189"/>
    <p:sldId xmlns:r="http://schemas.openxmlformats.org/officeDocument/2006/relationships" id="261" r:id="R1d84fb45bad049b1"/>
    <p:sldId xmlns:r="http://schemas.openxmlformats.org/officeDocument/2006/relationships" id="262" r:id="Rd28ac255bbc24e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e4e009e7d84ebd" /><Relationship Type="http://schemas.openxmlformats.org/officeDocument/2006/relationships/slideMaster" Target="/ppt/slideMasters/slideMaster1.xml" Id="Ra58555d55eae4011" /><Relationship Type="http://schemas.openxmlformats.org/officeDocument/2006/relationships/notesMaster" Target="/ppt/notesMasters/notesMaster1.xml" Id="Rdd3fce75f4ce4894" /><Relationship Type="http://schemas.openxmlformats.org/officeDocument/2006/relationships/presProps" Target="/ppt/presProps.xml" Id="Rae5f02a70bb34aab" /><Relationship Type="http://schemas.openxmlformats.org/officeDocument/2006/relationships/tableStyles" Target="/ppt/tableStyles.xml" Id="Rdd1470b9a3564c76" /><Relationship Type="http://schemas.openxmlformats.org/officeDocument/2006/relationships/slide" Target="/ppt/slides/slide1.xml" Id="Rdce6c95309a34dc2" /><Relationship Type="http://schemas.openxmlformats.org/officeDocument/2006/relationships/slide" Target="/ppt/slides/slide2.xml" Id="R9890826539d64af3" /><Relationship Type="http://schemas.openxmlformats.org/officeDocument/2006/relationships/slide" Target="/ppt/slides/slide3.xml" Id="R8bab4328c9dc42cd" /><Relationship Type="http://schemas.openxmlformats.org/officeDocument/2006/relationships/slide" Target="/ppt/slides/slide4.xml" Id="Rb960614b8e2c4924" /><Relationship Type="http://schemas.openxmlformats.org/officeDocument/2006/relationships/slide" Target="/ppt/slides/slide5.xml" Id="R8bc6fe75f4ef4189" /><Relationship Type="http://schemas.openxmlformats.org/officeDocument/2006/relationships/slide" Target="/ppt/slides/slide6.xml" Id="R1d84fb45bad049b1" /><Relationship Type="http://schemas.openxmlformats.org/officeDocument/2006/relationships/slide" Target="/ppt/slides/slide7.xml" Id="Rd28ac255bbc24e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0fb5acdcc64e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9a8369864f54786" /><Relationship Type="http://schemas.openxmlformats.org/officeDocument/2006/relationships/notesMaster" Target="/ppt/notesMasters/notesMaster1.xml" Id="R6b1d0d4acfb244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665caf74564e21" /><Relationship Type="http://schemas.openxmlformats.org/officeDocument/2006/relationships/notesMaster" Target="/ppt/notesMasters/notesMaster1.xml" Id="R03d112f6474f4c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172a441b1744e84" /><Relationship Type="http://schemas.openxmlformats.org/officeDocument/2006/relationships/notesMaster" Target="/ppt/notesMasters/notesMaster1.xml" Id="Rc6eefeaba3cd402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6f698b1c6a94918" /><Relationship Type="http://schemas.openxmlformats.org/officeDocument/2006/relationships/notesMaster" Target="/ppt/notesMasters/notesMaster1.xml" Id="R9057ef46ba38423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d1780ad1be54041" /><Relationship Type="http://schemas.openxmlformats.org/officeDocument/2006/relationships/notesMaster" Target="/ppt/notesMasters/notesMaster1.xml" Id="R13bb2fb4b8854ed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433dd107bba4b12" /><Relationship Type="http://schemas.openxmlformats.org/officeDocument/2006/relationships/notesMaster" Target="/ppt/notesMasters/notesMaster1.xml" Id="Rd00a20ffc1074d0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350976f78e74ef1" /><Relationship Type="http://schemas.openxmlformats.org/officeDocument/2006/relationships/notesMaster" Target="/ppt/notesMasters/notesMaster1.xml" Id="R78cc337ab08f44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repository: https://github.com/Triumphant-24k/RV32I-Based-SoC-with-an-INT8-AI-Accelerator-on-FPGA</a:t>
            </a:r>
          </a:p>
          <a:p xmlns:a="http://schemas.openxmlformats.org/drawingml/2006/main">
            <a:r>
              <a:t>CPU source: https://github.com/Triumphant-24k/riscv-r32-processor-v2 at 64977acc99bfd37eb6c43121e6377a9b47105b72. MIT attribution retained.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rtl/cpu_core.v, rtl/soc/ai_soc.sv, rtl/soc/soc_bus.sv, docs/ARCHITECTURE.md. New UART RX extension is in progress and not included in baseline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rtl/soc/int8_accelerator.sv and firmware/main.c. One signed 8x8 multiplier and an INT32 accumulator, processing eight elements sequentially.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reports/arty_benchmarks.json and reports/arty_uart_sample.txt, baseline board firmware case 0. 1870 / 388 = 4.8196, displayed truncated as 4.81x by firmware. Compute-only: 1870 / 8 = 233.75. Timing assumes target 100 MHz. These are RTL simulation measurements, not physical FPGA observations.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baseline full regression run before interactive edits on 2026-09-07; reports/regression.txt. Existing baseline passed. The new interactive extension has not passed final regression; first lint attempt identified SYNCASYNCNET in UART RX. Yosys mapping is not Vivado utilization or timing.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boards/arty_a7_100t/arty_a7_top.sv and arty_a7_100t.xdc; docs/ARTY_BRINGUP.md. Pin reference: https://github.com/Digilent/digilent-xdc/blob/master/Arty-A7-100-Master.xdc. Physical validation remains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docs/timing_route.txt, docs/routed.dcp, docs/ai_soc.bit and current interactive work in progress. Supplied old build uses fpga_top and TX D10, with WNS -4.059 ns. Correct Arty flow uses arty_a7_top and TX A9. Do not present the old bitstream as accepted. GUI, serial protocol tests and final interactive regression remain unfinished.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c79501880245c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f5e01419bb4719" /><Relationship Type="http://schemas.openxmlformats.org/officeDocument/2006/relationships/slideLayout" Target="/ppt/slideLayouts/slideLayout1.xml" Id="R9ac0a6a2a29149a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c0a6a2a29149a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0278ab28864d12" /><Relationship Type="http://schemas.openxmlformats.org/officeDocument/2006/relationships/notesSlide" Target="/ppt/notesSlides/notesSlide1.xml" Id="Rf1cf51f2447b49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c747a645704dd9" /><Relationship Type="http://schemas.openxmlformats.org/officeDocument/2006/relationships/notesSlide" Target="/ppt/notesSlides/notesSlide2.xml" Id="Re2e1a042b72f482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05e249a73c45da" /><Relationship Type="http://schemas.openxmlformats.org/officeDocument/2006/relationships/notesSlide" Target="/ppt/notesSlides/notesSlide3.xml" Id="R5f35bb3074864c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43314639a64250" /><Relationship Type="http://schemas.openxmlformats.org/officeDocument/2006/relationships/notesSlide" Target="/ppt/notesSlides/notesSlide4.xml" Id="R2d036a6b9c924f1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87b167ac134375" /><Relationship Type="http://schemas.openxmlformats.org/officeDocument/2006/relationships/notesSlide" Target="/ppt/notesSlides/notesSlide5.xml" Id="R649a27a7bd564bb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cf8114e20d4b08" /><Relationship Type="http://schemas.openxmlformats.org/officeDocument/2006/relationships/notesSlide" Target="/ppt/notesSlides/notesSlide6.xml" Id="R616001a0378e444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07be33b7d34c2f" /><Relationship Type="http://schemas.openxmlformats.org/officeDocument/2006/relationships/notesSlide" Target="/ppt/notesSlides/notesSlide7.xml" Id="R358cc1bc2033490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9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39AC71-536F-4E16-BC8E-BAA0C97B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3F6FA"/>
                </a:solidFill>
                <a:latin typeface="Arial"/>
                <a:ea typeface="Arial"/>
                <a:cs typeface="Arial"/>
              </a:rPr>
              <a:t>RV32I SoC with an</a:t>
            </a:r>
          </a:p>
          <a:p xmlns:a="http://schemas.openxmlformats.org/drawingml/2006/main">
            <a:pPr>
              <a:defRPr sz="3450" b="1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3F6FA"/>
                </a:solidFill>
                <a:latin typeface="Arial"/>
                <a:ea typeface="Arial"/>
                <a:cs typeface="Arial"/>
              </a:rPr>
              <a:t>INT8 AI Accelerator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CC6EC5-0924-4F16-9B7A-20C670B8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AB9C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9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1BB5FA-2532-4BC1-ACBC-476E9A80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62E1CD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62E1CD"/>
                </a:solidFill>
                <a:latin typeface="Arial"/>
                <a:ea typeface="Arial"/>
                <a:cs typeface="Arial"/>
              </a:rPr>
              <a:t>A hardware/software co-design project for FPGA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D86B38-E602-4ACD-B9D4-57B328AFD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05175"/>
            <a:ext cx="10287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Eight signed INT8 pairs. One INT32 dot product.</a:t>
            </a:r>
          </a:p>
          <a:p xmlns:a="http://schemas.openxmlformats.org/drawingml/2006/main">
            <a:pPr>
              <a:defRPr sz="2325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Compare RV32I software with dedicated hardware.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A7C6CD-F370-4BD7-8842-3DB4ABC52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000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AB9C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AB9C9"/>
                </a:solidFill>
                <a:latin typeface="Arial"/>
                <a:ea typeface="Arial"/>
                <a:cs typeface="Arial"/>
              </a:rPr>
              <a:t>Shiv Sriram</a:t>
            </a:r>
          </a:p>
          <a:p xmlns:a="http://schemas.openxmlformats.org/drawingml/2006/main">
            <a:pPr>
              <a:defRPr sz="1725" b="0">
                <a:solidFill>
                  <a:srgbClr val="AAB9C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AB9C9"/>
                </a:solidFill>
                <a:latin typeface="Arial"/>
                <a:ea typeface="Arial"/>
                <a:cs typeface="Arial"/>
              </a:rPr>
              <a:t>Design &amp; Verification Hackathon 2026</a:t>
            </a:r>
          </a:p>
        </p:txBody>
      </p:sp>
    </p:spTree>
    <p:extLst>
      <p:ext uri="{BB962C8B-B14F-4D97-AF65-F5344CB8AC3E}">
        <p14:creationId xmlns:p14="http://schemas.microsoft.com/office/powerpoint/2010/main" val="49404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9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11390F-5FDA-4D23-8E46-1272A9DB5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3F6FA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937D16-5696-4635-A9B5-DEBBBEC0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AB9C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9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2D949B-71AE-477C-B28B-0971CE6FA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62E1C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62E1CD"/>
                </a:solidFill>
                <a:latin typeface="Arial"/>
                <a:ea typeface="Arial"/>
                <a:cs typeface="Arial"/>
              </a:rPr>
              <a:t>RV32I processor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08DE9A-935D-41B7-B1E1-158B53E7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104775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32-bit CPU with 32 registers</a:t>
            </a:r>
          </a:p>
          <a:p xmlns:a="http://schemas.openxmlformats.org/drawingml/2006/main">
            <a:pPr>
              <a:defRPr sz="22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Executes firmware and controls peripherals</a:t>
            </a:r>
          </a:p>
          <a:p xmlns:a="http://schemas.openxmlformats.org/drawingml/2006/main">
            <a:pPr>
              <a:defRPr sz="22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Software multiply uses shifts and adds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F718B3-5858-4F50-A589-4F73FF1B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62E1C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62E1CD"/>
                </a:solidFill>
                <a:latin typeface="Arial"/>
                <a:ea typeface="Arial"/>
                <a:cs typeface="Arial"/>
              </a:rPr>
              <a:t>Memory and peripherals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B5A1C2-682A-40A2-A9BD-1C561CEE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38675"/>
            <a:ext cx="1047750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16 KiB instruction ROM + 16 KiB data RAM</a:t>
            </a:r>
          </a:p>
          <a:p xmlns:a="http://schemas.openxmlformats.org/drawingml/2006/main">
            <a:pPr>
              <a:defRPr sz="22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Memory-mapped INT8 accelerator at 0x40000000</a:t>
            </a:r>
          </a:p>
          <a:p xmlns:a="http://schemas.openxmlformats.org/drawingml/2006/main">
            <a:pPr>
              <a:defRPr sz="22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Cycle counter, UART output and status LEDs</a:t>
            </a:r>
          </a:p>
        </p:txBody>
      </p:sp>
    </p:spTree>
    <p:extLst>
      <p:ext uri="{BB962C8B-B14F-4D97-AF65-F5344CB8AC3E}">
        <p14:creationId xmlns:p14="http://schemas.microsoft.com/office/powerpoint/2010/main" val="18089043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9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83D629-7334-4B44-995E-9E7BE38D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3F6FA"/>
                </a:solidFill>
                <a:latin typeface="Arial"/>
                <a:ea typeface="Arial"/>
                <a:cs typeface="Arial"/>
              </a:rPr>
              <a:t>How the accelerator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80CBF0-18C8-42CB-B646-5E99C81C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AB9C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9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ABA608-9E42-419D-8686-6B5F43252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62E1C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62E1CD"/>
                </a:solidFill>
                <a:latin typeface="Arial"/>
                <a:ea typeface="Arial"/>
                <a:cs typeface="Arial"/>
              </a:rPr>
              <a:t>dot(A, B) = sum of A[i] × B[i], for i = 0…7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E827EF-6DA6-44AE-B5E0-85C3CA6A7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52725"/>
            <a:ext cx="107632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1. Firmware loads the same two vectors for both paths.</a:t>
            </a:r>
          </a:p>
          <a:p xmlns:a="http://schemas.openxmlformats.org/drawingml/2006/main">
            <a:pPr>
              <a:defRPr sz="2175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2. The RV32I CPU calculates a software reference.</a:t>
            </a:r>
          </a:p>
          <a:p xmlns:a="http://schemas.openxmlformats.org/drawingml/2006/main">
            <a:pPr>
              <a:defRPr sz="2175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3. Firmware writes 16 operands and starts the accelerator.</a:t>
            </a:r>
          </a:p>
          <a:p xmlns:a="http://schemas.openxmlformats.org/drawingml/2006/main">
            <a:pPr>
              <a:defRPr sz="2175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4. Hardware accumulates one product each clock.</a:t>
            </a:r>
          </a:p>
          <a:p xmlns:a="http://schemas.openxmlformats.org/drawingml/2006/main">
            <a:pPr>
              <a:defRPr sz="2175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5. Firmware reads the result and checks for a match.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78677C-1E84-41E0-8E09-555547D22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86425"/>
            <a:ext cx="10477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62E1C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62E1CD"/>
                </a:solidFill>
                <a:latin typeface="Arial"/>
                <a:ea typeface="Arial"/>
                <a:cs typeface="Arial"/>
              </a:rPr>
              <a:t>8 compute cycles per dot product</a:t>
            </a:r>
          </a:p>
        </p:txBody>
      </p:sp>
    </p:spTree>
    <p:extLst>
      <p:ext uri="{BB962C8B-B14F-4D97-AF65-F5344CB8AC3E}">
        <p14:creationId xmlns:p14="http://schemas.microsoft.com/office/powerpoint/2010/main" val="10311771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9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A1311C-33D0-425A-9244-65CFCE454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3F6FA"/>
                </a:solidFill>
                <a:latin typeface="Arial"/>
                <a:ea typeface="Arial"/>
                <a:cs typeface="Arial"/>
              </a:rPr>
              <a:t>Measured performance in simulation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7F1F60-DEA6-4EEA-A8D0-A8A8A1DFB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AB9C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9C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D45701-3935-4E92-8F78-6F3BC7438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5238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62E1CD"/>
                </a:solidFill>
                <a:latin typeface="Arial"/>
                <a:ea typeface="Arial"/>
                <a:cs typeface="Arial"/>
              </a:defRPr>
            </a:pPr>
            <a:r>
              <a:rPr sz="6600" b="1">
                <a:solidFill>
                  <a:srgbClr val="62E1CD"/>
                </a:solidFill>
                <a:latin typeface="Arial"/>
                <a:ea typeface="Arial"/>
                <a:cs typeface="Arial"/>
              </a:rPr>
              <a:t>4.81×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8B48F9-13F8-4497-BD89-5923DFD3A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End-to-end speedup, example case 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E2CF5C-91B7-4773-AC42-FB6337FB2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00475"/>
            <a:ext cx="10858500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RV32I software                      1,870 cycles       18.70 µs</a:t>
            </a:r>
          </a:p>
          <a:p xmlns:a="http://schemas.openxmlformats.org/drawingml/2006/main">
            <a:pPr>
              <a:defRPr sz="2175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Accelerator transaction             388 cycles         3.88 µs</a:t>
            </a:r>
          </a:p>
          <a:p xmlns:a="http://schemas.openxmlformats.org/drawingml/2006/main">
            <a:pPr>
              <a:defRPr sz="2175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Accelerator compute                      8 cycles         0.08 µs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26ABCC-34ED-4246-BA72-CA528500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AB9C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AB9C9"/>
                </a:solidFill>
                <a:latin typeface="Arial"/>
                <a:ea typeface="Arial"/>
                <a:cs typeface="Arial"/>
              </a:rPr>
              <a:t>Transaction includes input writes, start, polling and result read.</a:t>
            </a:r>
          </a:p>
          <a:p xmlns:a="http://schemas.openxmlformats.org/drawingml/2006/main">
            <a:pPr>
              <a:defRPr sz="1725" b="0">
                <a:solidFill>
                  <a:srgbClr val="AAB9C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AB9C9"/>
                </a:solidFill>
                <a:latin typeface="Arial"/>
                <a:ea typeface="Arial"/>
                <a:cs typeface="Arial"/>
              </a:rPr>
              <a:t>Compute-only speedup: 233.75×. UART time is outside both regions.</a:t>
            </a:r>
          </a:p>
        </p:txBody>
      </p:sp>
    </p:spTree>
    <p:extLst>
      <p:ext uri="{BB962C8B-B14F-4D97-AF65-F5344CB8AC3E}">
        <p14:creationId xmlns:p14="http://schemas.microsoft.com/office/powerpoint/2010/main" val="11582879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9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DED8AF-A165-4F72-A3B7-C49DF55F6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3F6FA"/>
                </a:solidFill>
                <a:latin typeface="Arial"/>
                <a:ea typeface="Arial"/>
                <a:cs typeface="Arial"/>
              </a:rPr>
              <a:t>Verification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6B4A4E-667E-415A-AD0A-97D3C40F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AB9C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9C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F71D5B-92D7-4638-BBBA-A8FF3F3E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62E1C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62E1CD"/>
                </a:solidFill>
                <a:latin typeface="Arial"/>
                <a:ea typeface="Arial"/>
                <a:cs typeface="Arial"/>
              </a:rPr>
              <a:t>Existing fixed-vector baseline passed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F442AD-799A-4835-B4D5-D949A673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066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CPU: 176 directed checks and 300 generated tests</a:t>
            </a:r>
          </a:p>
          <a:p xmlns:a="http://schemas.openxmlformats.org/drawingml/2006/main">
            <a:pPr>
              <a:defRPr sz="22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Accelerator: 266 vectors and 12,455 checks</a:t>
            </a:r>
          </a:p>
          <a:p xmlns:a="http://schemas.openxmlformats.org/drawingml/2006/main">
            <a:pPr>
              <a:defRPr sz="22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UART: all 256 byte values and 8N1 timing</a:t>
            </a:r>
          </a:p>
          <a:p xmlns:a="http://schemas.openxmlformats.org/drawingml/2006/main">
            <a:pPr>
              <a:defRPr sz="22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System: 26 cases in integrated and CPU-only modes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BE3177-9086-4AFC-9553-E126BE77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0175"/>
            <a:ext cx="107632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AAB9C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AB9C9"/>
                </a:solidFill>
                <a:latin typeface="Arial"/>
                <a:ea typeface="Arial"/>
                <a:cs typeface="Arial"/>
              </a:rPr>
              <a:t>Verilator lint and portable Yosys synthesis passed for the baseline.</a:t>
            </a:r>
          </a:p>
          <a:p xmlns:a="http://schemas.openxmlformats.org/drawingml/2006/main">
            <a:pPr>
              <a:defRPr sz="1950" b="0">
                <a:solidFill>
                  <a:srgbClr val="AAB9C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AB9C9"/>
                </a:solidFill>
                <a:latin typeface="Arial"/>
                <a:ea typeface="Arial"/>
                <a:cs typeface="Arial"/>
              </a:rPr>
              <a:t>Checks cover stalls, reset, MMIO and independent reference results.</a:t>
            </a:r>
          </a:p>
        </p:txBody>
      </p:sp>
    </p:spTree>
    <p:extLst>
      <p:ext uri="{BB962C8B-B14F-4D97-AF65-F5344CB8AC3E}">
        <p14:creationId xmlns:p14="http://schemas.microsoft.com/office/powerpoint/2010/main" val="13816402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9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BF55D9-93B7-4620-97EC-DFF9EC5B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3F6FA"/>
                </a:solidFill>
                <a:latin typeface="Arial"/>
                <a:ea typeface="Arial"/>
                <a:cs typeface="Arial"/>
              </a:rPr>
              <a:t>Arty A7-100T 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0F2374-E011-49B7-AD43-13426583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AB9C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9C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691095-7C22-4070-8C43-9DAE8F0A9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62E1C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62E1CD"/>
                </a:solidFill>
                <a:latin typeface="Arial"/>
                <a:ea typeface="Arial"/>
                <a:cs typeface="Arial"/>
              </a:rPr>
              <a:t>Target: xc7a100tcsg324-1 at 100 MHz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C7BB09-A736-4178-A960-5601E0650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105727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USB-UART: 115200 baud, 8-N-1, no flow control</a:t>
            </a:r>
          </a:p>
          <a:p xmlns:a="http://schemas.openxmlformats.org/drawingml/2006/main">
            <a:pPr>
              <a:defRPr sz="2325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BTN0 restarts the firmware report</a:t>
            </a:r>
          </a:p>
          <a:p xmlns:a="http://schemas.openxmlformats.org/drawingml/2006/main">
            <a:pPr>
              <a:defRPr sz="2325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LED0 heartbeat, LED1 busy activity</a:t>
            </a:r>
          </a:p>
          <a:p xmlns:a="http://schemas.openxmlformats.org/drawingml/2006/main">
            <a:pPr>
              <a:defRPr sz="2325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LED2 PASS, LED3 FAIL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DE7DBF-5514-4000-9DCC-C81A21D4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48275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AAB9C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AAB9C9"/>
                </a:solidFill>
                <a:latin typeface="Arial"/>
                <a:ea typeface="Arial"/>
                <a:cs typeface="Arial"/>
              </a:rPr>
              <a:t>The fixed demo prints 26 comparisons and finishes with ALL PASS.</a:t>
            </a:r>
          </a:p>
          <a:p xmlns:a="http://schemas.openxmlformats.org/drawingml/2006/main">
            <a:pPr>
              <a:defRPr sz="2025" b="0">
                <a:solidFill>
                  <a:srgbClr val="AAB9C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AAB9C9"/>
                </a:solidFill>
                <a:latin typeface="Arial"/>
                <a:ea typeface="Arial"/>
                <a:cs typeface="Arial"/>
              </a:rPr>
              <a:t>A successful routed build and a physical board run are still required.</a:t>
            </a:r>
          </a:p>
        </p:txBody>
      </p:sp>
    </p:spTree>
    <p:extLst>
      <p:ext uri="{BB962C8B-B14F-4D97-AF65-F5344CB8AC3E}">
        <p14:creationId xmlns:p14="http://schemas.microsoft.com/office/powerpoint/2010/main" val="18865133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9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855283-1E95-4682-B39E-22262E906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3F6FA"/>
                </a:solidFill>
                <a:latin typeface="Arial"/>
                <a:ea typeface="Arial"/>
                <a:cs typeface="Arial"/>
              </a:rPr>
              <a:t>Current status and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C782F0-3197-4834-8AB5-81C93638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AB9C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9C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1ADC3B-AAC7-44AE-AA70-CB974F02A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04975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62E1C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62E1CD"/>
                </a:solidFill>
                <a:latin typeface="Arial"/>
                <a:ea typeface="Arial"/>
                <a:cs typeface="Arial"/>
              </a:rPr>
              <a:t>Complete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1400A6-9DFF-46B2-9FA5-207B43307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95525"/>
            <a:ext cx="10668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CPU integration, INT8 accelerator and fixed-vector simulation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D70821-E87C-4457-991D-9CB4F6E2D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62E1C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62E1CD"/>
                </a:solidFill>
                <a:latin typeface="Arial"/>
                <a:ea typeface="Arial"/>
                <a:cs typeface="Arial"/>
              </a:rPr>
              <a:t>In progress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2CB2FE-D4E0-48F4-B1F3-DFA7CEA0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05727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UART receive commands and an interactive Windows GUI</a:t>
            </a:r>
          </a:p>
          <a:p xmlns:a="http://schemas.openxmlformats.org/drawingml/2006/main">
            <a:pPr>
              <a:defRPr sz="22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Final verification of the new interactive mode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E7ED62-CDD2-41F4-9356-ABC70BB0E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62E1C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62E1CD"/>
                </a:solidFill>
                <a:latin typeface="Arial"/>
                <a:ea typeface="Arial"/>
                <a:cs typeface="Arial"/>
              </a:rPr>
              <a:t>Hardware milestone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A01996-9EC5-423E-AE10-DAD066288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Correct Arty build, passing timing, then a measured board demo</a:t>
            </a:r>
          </a:p>
        </p:txBody>
      </p:sp>
    </p:spTree>
    <p:extLst>
      <p:ext uri="{BB962C8B-B14F-4D97-AF65-F5344CB8AC3E}">
        <p14:creationId xmlns:p14="http://schemas.microsoft.com/office/powerpoint/2010/main" val="16181546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2026-09-07T09:38:14.4360000Z</dcterms:created>
  <dcterms:modified xsi:type="dcterms:W3CDTF">2026-09-07T09:38:14.4360000Z</dcterms:modified>
</coreProperties>
</file>